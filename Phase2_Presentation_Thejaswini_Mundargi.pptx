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63" r:id="rId3"/>
  </p:sldMasterIdLst>
  <p:notesMasterIdLst>
    <p:notesMasterId r:id="rId20"/>
  </p:notesMasterIdLst>
  <p:sldIdLst>
    <p:sldId id="256" r:id="rId4"/>
    <p:sldId id="257" r:id="rId5"/>
    <p:sldId id="270" r:id="rId6"/>
    <p:sldId id="271" r:id="rId7"/>
    <p:sldId id="273" r:id="rId8"/>
    <p:sldId id="260" r:id="rId9"/>
    <p:sldId id="272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862"/>
    <a:srgbClr val="394C4E"/>
    <a:srgbClr val="5F6F71"/>
    <a:srgbClr val="DE66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29805" autoAdjust="0"/>
  </p:normalViewPr>
  <p:slideViewPr>
    <p:cSldViewPr snapToGrid="0" snapToObjects="1">
      <p:cViewPr>
        <p:scale>
          <a:sx n="63" d="100"/>
          <a:sy n="63" d="100"/>
        </p:scale>
        <p:origin x="1380" y="-52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2362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Good morning, everyone</a:t>
            </a:r>
          </a:p>
          <a:p>
            <a:r>
              <a:rPr lang="en-US" sz="1400" dirty="0"/>
              <a:t>I’m Thejaswini Mundargi, and today I’ll be presenting Phase II: industry case study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My project is titled </a:t>
            </a:r>
            <a:r>
              <a:rPr lang="en-US" sz="1400" i="1" dirty="0" err="1"/>
              <a:t>CycleSense</a:t>
            </a:r>
            <a:r>
              <a:rPr lang="en-US" sz="1400" i="1" dirty="0"/>
              <a:t> Analytics</a:t>
            </a:r>
            <a:r>
              <a:rPr lang="en-US" sz="1400" dirty="0"/>
              <a:t>, </a:t>
            </a:r>
            <a:r>
              <a:rPr lang="en-US" sz="1800" b="1" dirty="0"/>
              <a:t>where the goal is to develop forecasting solutions for urban bike-sharing systems</a:t>
            </a:r>
            <a:endParaRPr lang="en-US" sz="1400" b="1" dirty="0"/>
          </a:p>
          <a:p>
            <a:endParaRPr lang="en-US" sz="1400" dirty="0"/>
          </a:p>
          <a:p>
            <a:r>
              <a:rPr lang="en-US" sz="1400" dirty="0"/>
              <a:t>Specifically, I </a:t>
            </a:r>
            <a:r>
              <a:rPr lang="en-US" sz="1400" b="1" dirty="0"/>
              <a:t>focus on predicting bike rental demand for Washington D.C.’s Capital Bikeshare system </a:t>
            </a:r>
            <a:r>
              <a:rPr lang="en-US" sz="1400" dirty="0"/>
              <a:t>using time series forecasting methods</a:t>
            </a:r>
          </a:p>
          <a:p>
            <a:endParaRPr lang="en-US" sz="1400" dirty="0"/>
          </a:p>
          <a:p>
            <a:r>
              <a:rPr lang="en-US" sz="1400" dirty="0"/>
              <a:t>This project moves beyond model comparison from Phase I and </a:t>
            </a:r>
          </a:p>
          <a:p>
            <a:r>
              <a:rPr lang="en-US" sz="1400" b="1" i="1" dirty="0"/>
              <a:t>applies forecasting to a real operational business problem where prediction accuracy directly impacts planning and cost efficiency</a:t>
            </a:r>
          </a:p>
          <a:p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problem here is simple: operators need to know </a:t>
            </a:r>
            <a:r>
              <a:rPr lang="en-US" sz="1600" b="1" dirty="0"/>
              <a:t>how many bikes people will need before the actual demand happens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We forecast bike rentals 14 days in advance</a:t>
            </a:r>
          </a:p>
          <a:p>
            <a:endParaRPr lang="en-US" dirty="0"/>
          </a:p>
          <a:p>
            <a:r>
              <a:rPr lang="en-US" dirty="0"/>
              <a:t>This 14-day horizon is important because operational decisions like </a:t>
            </a:r>
            <a:r>
              <a:rPr lang="en-US" b="1" dirty="0"/>
              <a:t>truck routing and bike redistribution, and workforce scheduling </a:t>
            </a:r>
            <a:r>
              <a:rPr lang="en-US" dirty="0"/>
              <a:t>are planned one to two weeks ahead—not the same day</a:t>
            </a:r>
          </a:p>
          <a:p>
            <a:endParaRPr lang="en-US" dirty="0"/>
          </a:p>
          <a:p>
            <a:r>
              <a:rPr lang="en-US" dirty="0"/>
              <a:t>Our final deliverable includes two things:</a:t>
            </a:r>
          </a:p>
          <a:p>
            <a:endParaRPr lang="en-US" dirty="0"/>
          </a:p>
          <a:p>
            <a:r>
              <a:rPr lang="en-US" dirty="0"/>
              <a:t>First, point forecasts, </a:t>
            </a:r>
            <a:r>
              <a:rPr lang="en-US" b="1" i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which estimate expected rentals</a:t>
            </a:r>
          </a:p>
          <a:p>
            <a:r>
              <a:rPr lang="en-US" dirty="0"/>
              <a:t>Second, Prediction intervals </a:t>
            </a:r>
            <a:r>
              <a:rPr lang="en-US" b="1" i="1" dirty="0"/>
              <a:t>help measure uncertainty and show the expected demand range</a:t>
            </a:r>
          </a:p>
          <a:p>
            <a:endParaRPr lang="en-US" b="1" i="1" dirty="0"/>
          </a:p>
          <a:p>
            <a:r>
              <a:rPr lang="en-US" dirty="0"/>
              <a:t>This is important because overestimating wastes resources, while underestimating creates empty stations and customer dissatisfaction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7C85A-CAAF-2D5D-6B18-95428CE77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C8B08F-A91E-F540-C65C-EB5D268CC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15F4D-7F2D-3A2E-8EDB-DB3751DFD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Forecasting directly affects four major business areas:</a:t>
            </a:r>
          </a:p>
          <a:p>
            <a:endParaRPr lang="en-US" dirty="0"/>
          </a:p>
          <a:p>
            <a:r>
              <a:rPr lang="en-US" dirty="0"/>
              <a:t>First is </a:t>
            </a:r>
            <a:r>
              <a:rPr lang="en-US" b="1" dirty="0"/>
              <a:t>station rebalancing</a:t>
            </a:r>
            <a:r>
              <a:rPr lang="en-US" dirty="0"/>
              <a:t>. Bikes must be moved between stations overnight so high-demand stations don’t become empty</a:t>
            </a:r>
          </a:p>
          <a:p>
            <a:r>
              <a:rPr lang="en-US" dirty="0"/>
              <a:t>Second is </a:t>
            </a:r>
            <a:r>
              <a:rPr lang="en-US" b="1" dirty="0"/>
              <a:t>maintenance scheduling</a:t>
            </a:r>
            <a:r>
              <a:rPr lang="en-US" dirty="0"/>
              <a:t>. Low-demand days are the best time for bike servicing</a:t>
            </a:r>
          </a:p>
          <a:p>
            <a:r>
              <a:rPr lang="en-US" dirty="0"/>
              <a:t>Third is </a:t>
            </a:r>
            <a:r>
              <a:rPr lang="en-US" b="1" dirty="0"/>
              <a:t>workforce planning</a:t>
            </a:r>
            <a:r>
              <a:rPr lang="en-US" dirty="0"/>
              <a:t>. Staff scheduling depends more on expected demand</a:t>
            </a:r>
          </a:p>
          <a:p>
            <a:r>
              <a:rPr lang="en-US" dirty="0"/>
              <a:t>And fourth is </a:t>
            </a:r>
            <a:r>
              <a:rPr lang="en-US" b="1" dirty="0"/>
              <a:t>budgeting</a:t>
            </a:r>
            <a:r>
              <a:rPr lang="en-US" dirty="0"/>
              <a:t>, where inaccurate forecasts lead either to unnecessary spending or lost revenue</a:t>
            </a:r>
          </a:p>
          <a:p>
            <a:endParaRPr lang="en-US" dirty="0"/>
          </a:p>
          <a:p>
            <a:r>
              <a:rPr lang="en-US" dirty="0"/>
              <a:t>The dataset comes from Capital Bikeshare in Washington D.C.</a:t>
            </a:r>
          </a:p>
          <a:p>
            <a:endParaRPr lang="en-US" dirty="0"/>
          </a:p>
          <a:p>
            <a:r>
              <a:rPr lang="en-US" dirty="0"/>
              <a:t>It covers January 2011 to December 2012, giving us 731 daily observations after aggregating hourly records</a:t>
            </a:r>
          </a:p>
          <a:p>
            <a:endParaRPr lang="en-US" dirty="0"/>
          </a:p>
          <a:p>
            <a:r>
              <a:rPr lang="en-US" dirty="0"/>
              <a:t>Originally there were over 17,000 hourly records</a:t>
            </a:r>
          </a:p>
          <a:p>
            <a:endParaRPr lang="en-US" dirty="0"/>
          </a:p>
          <a:p>
            <a:r>
              <a:rPr lang="en-US" dirty="0"/>
              <a:t>The average daily demand is around 4,500 rentals, with no missing values, which makes the dataset very reliable for forecasting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C4576-C2BA-4D1F-79C8-441B3D4B37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14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2EDE2-C777-F572-8786-2ACA2055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05801-27C8-F718-3A15-ED3C8269C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06084-1653-7931-1CD6-74F37CF06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target variable is total daily rentals, called “</a:t>
            </a:r>
            <a:r>
              <a:rPr lang="en-US" dirty="0" err="1"/>
              <a:t>cnt</a:t>
            </a:r>
            <a:r>
              <a:rPr lang="en-US" dirty="0"/>
              <a:t>.”</a:t>
            </a:r>
          </a:p>
          <a:p>
            <a:endParaRPr lang="en-US" dirty="0"/>
          </a:p>
          <a:p>
            <a:r>
              <a:rPr lang="en-US" dirty="0"/>
              <a:t>Other important features include temperature, humidity, wind speed, weather condition, season, holidays, working days, weekday, and hour</a:t>
            </a:r>
          </a:p>
          <a:p>
            <a:r>
              <a:rPr lang="en-US" dirty="0"/>
              <a:t>Since my forecasting objective is </a:t>
            </a:r>
            <a:r>
              <a:rPr lang="en-US" b="1" i="1" u="sng" dirty="0"/>
              <a:t>daily planning</a:t>
            </a:r>
            <a:r>
              <a:rPr lang="en-US" dirty="0"/>
              <a:t>, I aggregated hourly observations into daily totals</a:t>
            </a:r>
          </a:p>
          <a:p>
            <a:endParaRPr lang="en-US" dirty="0"/>
          </a:p>
          <a:p>
            <a:r>
              <a:rPr lang="en-US" dirty="0"/>
              <a:t>I also de-normalized weather features like </a:t>
            </a:r>
            <a:r>
              <a:rPr lang="en-US" b="1" dirty="0"/>
              <a:t>temperature and humidity </a:t>
            </a:r>
            <a:r>
              <a:rPr lang="en-US" dirty="0"/>
              <a:t>so results are easier to interpret Three extremely low-demand days caused by severe weather were retained because they represent real operational events, not errors</a:t>
            </a:r>
          </a:p>
          <a:p>
            <a:endParaRPr lang="en-US" dirty="0"/>
          </a:p>
          <a:p>
            <a:r>
              <a:rPr lang="en-US" dirty="0"/>
              <a:t>For evaluation, I used three setups:</a:t>
            </a:r>
          </a:p>
          <a:p>
            <a:r>
              <a:rPr lang="en-US" dirty="0"/>
              <a:t>Primary testing on December 1st to 14th,</a:t>
            </a:r>
          </a:p>
          <a:p>
            <a:r>
              <a:rPr lang="en-US" dirty="0"/>
              <a:t>Holiday case study on December 18th to 31st,</a:t>
            </a:r>
          </a:p>
          <a:p>
            <a:r>
              <a:rPr lang="en-US" dirty="0"/>
              <a:t>and 10 rolling-origin validation windows for stronger out-of-sample testing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78F8D-97F2-9418-097E-F81A520C79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78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50576-57E4-8BBF-1B9E-D3AC3221C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0C9EE-B029-A1D1-5CEA-7D74FE960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A082A-BD47-7DA1-4531-077670A87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revealed three important patterns.</a:t>
            </a:r>
          </a:p>
          <a:p>
            <a:endParaRPr lang="en-US" dirty="0"/>
          </a:p>
          <a:p>
            <a:r>
              <a:rPr lang="en-US" dirty="0"/>
              <a:t>First, demand increased by around 65 percent from 2011 to 2012, </a:t>
            </a:r>
            <a:r>
              <a:rPr lang="en-US" b="1" u="sng" dirty="0"/>
              <a:t>showing clear business growth</a:t>
            </a:r>
          </a:p>
          <a:p>
            <a:endParaRPr lang="en-US" b="1" u="sng" dirty="0"/>
          </a:p>
          <a:p>
            <a:r>
              <a:rPr lang="en-US" dirty="0"/>
              <a:t>Second, there is strong weekly seasonality</a:t>
            </a:r>
          </a:p>
          <a:p>
            <a:r>
              <a:rPr lang="en-US" dirty="0"/>
              <a:t>Registered users make up 81% of demand and are mainly commuters, </a:t>
            </a:r>
          </a:p>
          <a:p>
            <a:r>
              <a:rPr lang="en-US" dirty="0"/>
              <a:t>while casual users are more active on weekends, and more weather-sensitive</a:t>
            </a:r>
          </a:p>
          <a:p>
            <a:endParaRPr lang="en-US" dirty="0"/>
          </a:p>
          <a:p>
            <a:r>
              <a:rPr lang="en-US" dirty="0"/>
              <a:t>Third, temperature is the strongest predictor, with a correlation of 0.63</a:t>
            </a:r>
          </a:p>
          <a:p>
            <a:r>
              <a:rPr lang="en-US" dirty="0"/>
              <a:t>Rain and snow reduce demand by approximately 40 percent</a:t>
            </a:r>
          </a:p>
          <a:p>
            <a:endParaRPr lang="en-US" dirty="0"/>
          </a:p>
          <a:p>
            <a:r>
              <a:rPr lang="en-US" dirty="0"/>
              <a:t>This confirms that both </a:t>
            </a:r>
            <a:r>
              <a:rPr lang="en-US" b="1" dirty="0"/>
              <a:t>seasonality and weather </a:t>
            </a:r>
            <a:r>
              <a:rPr lang="en-US" dirty="0"/>
              <a:t>play major roles in rental demand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07977-334C-8B66-16D9-3C745875C8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97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 demand patterns more closely:</a:t>
            </a:r>
          </a:p>
          <a:p>
            <a:r>
              <a:rPr lang="en-US" dirty="0"/>
              <a:t>On working days, there are two clear commuter peaks—one around 8 AM and another around 5 to 6 PM</a:t>
            </a:r>
          </a:p>
          <a:p>
            <a:r>
              <a:rPr lang="en-US" dirty="0"/>
              <a:t>On weekends, there is only one main peak during midday</a:t>
            </a:r>
          </a:p>
          <a:p>
            <a:r>
              <a:rPr lang="en-US" dirty="0"/>
              <a:t>Overall, working-day demand is about 18% higher than weekends</a:t>
            </a:r>
          </a:p>
          <a:p>
            <a:endParaRPr lang="en-US" dirty="0"/>
          </a:p>
          <a:p>
            <a:r>
              <a:rPr lang="en-US" dirty="0"/>
              <a:t>For temperature, demand increases as weather gets warmer, up to around 30 degrees Celsius, and then it plateaus </a:t>
            </a:r>
          </a:p>
          <a:p>
            <a:r>
              <a:rPr lang="en-US" dirty="0"/>
              <a:t>This shows that warmer weather increases bike usage, but only to a certain point</a:t>
            </a:r>
          </a:p>
          <a:p>
            <a:endParaRPr lang="en-US" dirty="0"/>
          </a:p>
          <a:p>
            <a:r>
              <a:rPr lang="en-US" dirty="0"/>
              <a:t>Seasonally, </a:t>
            </a:r>
            <a:r>
              <a:rPr lang="en-US" b="1" dirty="0"/>
              <a:t>fall has the highest average demand</a:t>
            </a:r>
            <a:r>
              <a:rPr lang="en-US" dirty="0"/>
              <a:t>, with more than 5,300 rentals per day</a:t>
            </a:r>
          </a:p>
          <a:p>
            <a:r>
              <a:rPr lang="en-US" dirty="0"/>
              <a:t>These patterns explain why </a:t>
            </a:r>
            <a:r>
              <a:rPr lang="en-US" b="1" i="1" dirty="0"/>
              <a:t>multiplicative seasonality works well for forecasting this dataset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6F670-E832-64D2-C503-693DCB2C6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8EFFDB-79AC-DB85-CD49-9A7B11E91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76CE5-E875-B24C-A96C-2A22E9B2B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build our models, we look at the Autocorrelation</a:t>
            </a:r>
          </a:p>
          <a:p>
            <a:r>
              <a:rPr lang="en-US" dirty="0"/>
              <a:t>The </a:t>
            </a:r>
            <a:r>
              <a:rPr lang="en-US" b="1" dirty="0"/>
              <a:t>ACF</a:t>
            </a:r>
            <a:r>
              <a:rPr lang="en-US" dirty="0"/>
              <a:t> gradually decreases and shows spikes at lags 7, 14, and 21. This confirms a very strong weekly cycle. What happened last Monday is a great predictor of what will happen this Monday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PACF</a:t>
            </a:r>
            <a:r>
              <a:rPr lang="en-US" dirty="0"/>
              <a:t> shows a sharp cutoff, suggesting that an </a:t>
            </a:r>
            <a:r>
              <a:rPr lang="en-US" b="1" dirty="0"/>
              <a:t>AR(1)</a:t>
            </a:r>
            <a:r>
              <a:rPr lang="en-US" dirty="0"/>
              <a:t> and </a:t>
            </a:r>
            <a:r>
              <a:rPr lang="en-US" b="1" dirty="0"/>
              <a:t>Seasonal AR(1)</a:t>
            </a:r>
            <a:r>
              <a:rPr lang="en-US" dirty="0"/>
              <a:t> term are appropriate. This guided decision to use a </a:t>
            </a:r>
            <a:r>
              <a:rPr lang="en-US" b="1" dirty="0"/>
              <a:t>SARIMA</a:t>
            </a:r>
            <a:r>
              <a:rPr lang="en-US" dirty="0"/>
              <a:t> model as a baseline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B5491-8418-7B51-0ED4-9F39CD2691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85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tested three main approaches:</a:t>
            </a:r>
          </a:p>
          <a:p>
            <a:r>
              <a:rPr lang="en-US" b="1" dirty="0"/>
              <a:t>Damped Holt-Winters:</a:t>
            </a:r>
            <a:r>
              <a:rPr lang="en-US" dirty="0"/>
              <a:t> This is my primary model. It’s great for capturing that weekly seasonality while "damping" the trend so it doesn't over-extrapolate</a:t>
            </a:r>
          </a:p>
          <a:p>
            <a:endParaRPr lang="en-US" b="1" dirty="0"/>
          </a:p>
          <a:p>
            <a:r>
              <a:rPr lang="en-US" b="1" dirty="0"/>
              <a:t>SARIMA:</a:t>
            </a:r>
            <a:r>
              <a:rPr lang="en-US" dirty="0"/>
              <a:t> Our statistical baseline </a:t>
            </a:r>
            <a:r>
              <a:rPr lang="en-US" b="1" i="1" u="sng" dirty="0"/>
              <a:t>to capture the mathematical relationships between days</a:t>
            </a:r>
          </a:p>
          <a:p>
            <a:endParaRPr lang="en-US" b="1" dirty="0"/>
          </a:p>
          <a:p>
            <a:r>
              <a:rPr lang="en-US" b="1" dirty="0"/>
              <a:t>Combination:</a:t>
            </a:r>
            <a:r>
              <a:rPr lang="en-US" dirty="0"/>
              <a:t> I averaged the two. Often, an "ensemble" of models is smarter than just one. Validated these using 10 different "rolling windows" to ensure our results weren't just a fluke of one specific time period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estimated Holt-Winters parameters</a:t>
            </a:r>
          </a:p>
          <a:p>
            <a:r>
              <a:rPr lang="en-US" dirty="0"/>
              <a:t>Alpha, or level smoothing, is 0.212</a:t>
            </a:r>
          </a:p>
          <a:p>
            <a:r>
              <a:rPr lang="en-US" dirty="0"/>
              <a:t>This means the model </a:t>
            </a:r>
            <a:r>
              <a:rPr lang="en-US" u="sng" dirty="0"/>
              <a:t>adapts moderately to recent demand changes without reacting too aggressively</a:t>
            </a:r>
          </a:p>
          <a:p>
            <a:endParaRPr lang="en-US" dirty="0"/>
          </a:p>
          <a:p>
            <a:r>
              <a:rPr lang="en-US" dirty="0"/>
              <a:t>Beta, </a:t>
            </a:r>
            <a:r>
              <a:rPr lang="en-US" b="1" dirty="0"/>
              <a:t>the trend parameter</a:t>
            </a:r>
            <a:r>
              <a:rPr lang="en-US" dirty="0"/>
              <a:t>, is essentially zero</a:t>
            </a:r>
          </a:p>
          <a:p>
            <a:r>
              <a:rPr lang="en-US" dirty="0"/>
              <a:t>This tells us </a:t>
            </a:r>
            <a:r>
              <a:rPr lang="en-US" u="sng" dirty="0"/>
              <a:t>recent short-term changes do not strongly affect long-term trend estimation</a:t>
            </a:r>
          </a:p>
          <a:p>
            <a:endParaRPr lang="en-US" dirty="0"/>
          </a:p>
          <a:p>
            <a:r>
              <a:rPr lang="en-US" dirty="0"/>
              <a:t>Gamma, </a:t>
            </a:r>
            <a:r>
              <a:rPr lang="en-US" b="1" dirty="0"/>
              <a:t>the seasonal parameter</a:t>
            </a:r>
            <a:r>
              <a:rPr lang="en-US" dirty="0"/>
              <a:t>, is also near zero</a:t>
            </a:r>
          </a:p>
          <a:p>
            <a:r>
              <a:rPr lang="en-US" dirty="0"/>
              <a:t>This shows that the </a:t>
            </a:r>
            <a:r>
              <a:rPr lang="en-US" u="sng" dirty="0"/>
              <a:t>weekly demand pattern is very stable across the full two-year dataset</a:t>
            </a:r>
          </a:p>
          <a:p>
            <a:endParaRPr lang="en-US" dirty="0"/>
          </a:p>
          <a:p>
            <a:r>
              <a:rPr lang="en-US" dirty="0"/>
              <a:t>Finally, phi, the damping parameter, is 0.8</a:t>
            </a:r>
          </a:p>
          <a:p>
            <a:r>
              <a:rPr lang="en-US" dirty="0"/>
              <a:t>This is important because it prevents trend overextrapolation and helps forecasts flatten after a few days instead of growing unrealistically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main results:</a:t>
            </a:r>
          </a:p>
          <a:p>
            <a:r>
              <a:rPr lang="en-US" dirty="0"/>
              <a:t>Damped Holt-Winters performed best overall with:</a:t>
            </a:r>
          </a:p>
          <a:p>
            <a:r>
              <a:rPr lang="en-US" dirty="0"/>
              <a:t>MAE of 818,</a:t>
            </a:r>
          </a:p>
          <a:p>
            <a:r>
              <a:rPr lang="en-US" dirty="0"/>
              <a:t>RMSE of 964,</a:t>
            </a:r>
          </a:p>
          <a:p>
            <a:r>
              <a:rPr lang="en-US" dirty="0"/>
              <a:t>and </a:t>
            </a:r>
            <a:r>
              <a:rPr lang="en-US" dirty="0" err="1"/>
              <a:t>sMAPE</a:t>
            </a:r>
            <a:r>
              <a:rPr lang="en-US" dirty="0"/>
              <a:t> of 16.2 percent</a:t>
            </a:r>
          </a:p>
          <a:p>
            <a:endParaRPr lang="en-US" dirty="0"/>
          </a:p>
          <a:p>
            <a:r>
              <a:rPr lang="en-US" dirty="0"/>
              <a:t>This is about 29 percent better than the seasonal naïve baseline</a:t>
            </a:r>
          </a:p>
          <a:p>
            <a:r>
              <a:rPr lang="en-US" dirty="0"/>
              <a:t>SARIMA performed slightly bad, and the combination model was close but still behind Holt-Winters</a:t>
            </a:r>
          </a:p>
          <a:p>
            <a:endParaRPr lang="en-US" dirty="0"/>
          </a:p>
          <a:p>
            <a:r>
              <a:rPr lang="en-US" dirty="0"/>
              <a:t>Cross-validation results also showed consistent performance across all rolling windows</a:t>
            </a:r>
          </a:p>
          <a:p>
            <a:endParaRPr lang="en-US" dirty="0"/>
          </a:p>
          <a:p>
            <a:r>
              <a:rPr lang="en-US" dirty="0"/>
              <a:t>This confirms that the model is not just performing well on one test period—it generalizes reliably</a:t>
            </a:r>
          </a:p>
          <a:p>
            <a:r>
              <a:rPr lang="en-US" dirty="0"/>
              <a:t>Because of this, Holt-Winters becomes the recommended production model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 accuracy alone is not enough</a:t>
            </a:r>
          </a:p>
          <a:p>
            <a:r>
              <a:rPr lang="en-US" dirty="0"/>
              <a:t>Operations also need </a:t>
            </a:r>
            <a:r>
              <a:rPr lang="en-US" b="1" i="1" u="sng" dirty="0"/>
              <a:t>uncertainty estimates</a:t>
            </a:r>
          </a:p>
          <a:p>
            <a:endParaRPr lang="en-US" dirty="0"/>
          </a:p>
          <a:p>
            <a:r>
              <a:rPr lang="en-US" dirty="0"/>
              <a:t>Holt-Winters had 85.7% coverage for 95% prediction intervals, while SARIMA performed better with 92.9%</a:t>
            </a:r>
          </a:p>
          <a:p>
            <a:r>
              <a:rPr lang="en-US" dirty="0"/>
              <a:t>However, Holt-Winters gave narrower intervals,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From a business perspective, narrower intervals are often better for fleet planning because they provide more actionable guidance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translate uncertainty into business action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Damped HW Bootstrap</a:t>
            </a:r>
            <a:r>
              <a:rPr lang="en-US" dirty="0"/>
              <a:t> gave us tighter intervals than SARIMA</a:t>
            </a:r>
          </a:p>
          <a:p>
            <a:r>
              <a:rPr lang="en-US" dirty="0"/>
              <a:t>If the model predicts 5,200 rentals tomorrow, our 80% confidence interval says it could be anywhere from 3,300 to 7,100</a:t>
            </a:r>
          </a:p>
          <a:p>
            <a:endParaRPr lang="en-US" dirty="0"/>
          </a:p>
          <a:p>
            <a:r>
              <a:rPr lang="en-US" dirty="0"/>
              <a:t>For operations, this means: If you want to be conservative and avoid empty stations, you plan for the upper bound (7,100). If you want to save on labor, you plan for the point forecast</a:t>
            </a:r>
          </a:p>
          <a:p>
            <a:endParaRPr lang="en-US" dirty="0"/>
          </a:p>
          <a:p>
            <a:r>
              <a:rPr lang="en-US" b="1" dirty="0"/>
              <a:t>Damped Holt-Winters gives the forecast, while Damped HW Bootstrap gives the uncertainty range around that forecast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major limitation appeared during Christmas week:</a:t>
            </a:r>
          </a:p>
          <a:p>
            <a:endParaRPr lang="en-US" dirty="0"/>
          </a:p>
          <a:p>
            <a:r>
              <a:rPr lang="en-US" dirty="0"/>
              <a:t>Demand dropped 40 to 60 percent below model expectations.</a:t>
            </a:r>
          </a:p>
          <a:p>
            <a:r>
              <a:rPr lang="en-US" dirty="0"/>
              <a:t>For example, Christmas Day actual demand was around 1,000 rentals, while the model predicted nearly 4,800</a:t>
            </a:r>
          </a:p>
          <a:p>
            <a:r>
              <a:rPr lang="en-US" dirty="0"/>
              <a:t>This happened because both Holt-Winters and SARIMA depend on recent historical patterns and have no holiday awareness. This is a structural break</a:t>
            </a:r>
          </a:p>
          <a:p>
            <a:endParaRPr lang="en-US" dirty="0"/>
          </a:p>
          <a:p>
            <a:r>
              <a:rPr lang="en-US" dirty="0"/>
              <a:t>The practical solution is a holiday calendar overlay</a:t>
            </a:r>
          </a:p>
          <a:p>
            <a:r>
              <a:rPr lang="en-US" dirty="0"/>
              <a:t>For example:</a:t>
            </a:r>
          </a:p>
          <a:p>
            <a:r>
              <a:rPr lang="en-US" dirty="0"/>
              <a:t>reduce Christmas Day forecasts by 50 percent,</a:t>
            </a:r>
          </a:p>
          <a:p>
            <a:r>
              <a:rPr lang="en-US" dirty="0"/>
              <a:t>Christmas Eve and New Year’s Eve by 30 percent,</a:t>
            </a:r>
          </a:p>
          <a:p>
            <a:r>
              <a:rPr lang="en-US" dirty="0"/>
              <a:t>and other federal holidays by 15 percent</a:t>
            </a:r>
          </a:p>
          <a:p>
            <a:r>
              <a:rPr lang="en-US" dirty="0"/>
              <a:t>These </a:t>
            </a:r>
            <a:r>
              <a:rPr lang="en-US" b="1" dirty="0"/>
              <a:t>adjustment factors </a:t>
            </a:r>
            <a:r>
              <a:rPr lang="en-US" dirty="0"/>
              <a:t>should be recalibrated every year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worked well?</a:t>
            </a:r>
          </a:p>
          <a:p>
            <a:r>
              <a:rPr lang="en-US" dirty="0"/>
              <a:t>Damped Holt-Winters showed strong generalizability across both Phase I and this bike-share case</a:t>
            </a:r>
          </a:p>
          <a:p>
            <a:r>
              <a:rPr lang="en-US" dirty="0"/>
              <a:t>It </a:t>
            </a:r>
            <a:r>
              <a:rPr lang="en-US" b="1" dirty="0"/>
              <a:t>modeled weekly demand patterns accurately </a:t>
            </a:r>
            <a:r>
              <a:rPr lang="en-US" dirty="0"/>
              <a:t>and </a:t>
            </a:r>
            <a:r>
              <a:rPr lang="en-US" b="1" dirty="0"/>
              <a:t>consistently improved performance by nearly 29 percent over baseline</a:t>
            </a:r>
            <a:r>
              <a:rPr lang="en-US" dirty="0"/>
              <a:t>. Its prediction intervals were also operationally useful</a:t>
            </a:r>
          </a:p>
          <a:p>
            <a:endParaRPr lang="en-US" dirty="0"/>
          </a:p>
          <a:p>
            <a:r>
              <a:rPr lang="en-US" dirty="0"/>
              <a:t>Main limitations include holiday effects are quite missed, under-covered intervals, and the fact that this is still a mostly univariate model. Future improvements include SARIMAX (</a:t>
            </a:r>
            <a:r>
              <a:rPr lang="en-US" dirty="0" err="1"/>
              <a:t>eXogenous</a:t>
            </a:r>
            <a:r>
              <a:rPr lang="en-US" dirty="0"/>
              <a:t> variables) or machine learning models like </a:t>
            </a:r>
            <a:r>
              <a:rPr lang="en-US" dirty="0" err="1"/>
              <a:t>XGBoost</a:t>
            </a:r>
            <a:r>
              <a:rPr lang="en-US" dirty="0"/>
              <a:t> that include weather variables directly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Effective forecasting isn't just about the math; it's about making the math useful for the people on the ground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My final recommendations are:</a:t>
            </a:r>
          </a:p>
          <a:p>
            <a:r>
              <a:rPr lang="en-US" dirty="0"/>
              <a:t>Use Damped Holt-Winters as the main forecasting model,</a:t>
            </a:r>
            <a:br>
              <a:rPr lang="en-US" dirty="0"/>
            </a:br>
            <a:r>
              <a:rPr lang="en-US" dirty="0"/>
              <a:t>add holiday adjustments,</a:t>
            </a:r>
            <a:br>
              <a:rPr lang="en-US" dirty="0"/>
            </a:br>
            <a:r>
              <a:rPr lang="en-US" dirty="0"/>
              <a:t>include short-term weather forecasts,</a:t>
            </a:r>
            <a:br>
              <a:rPr lang="en-US" dirty="0"/>
            </a:br>
            <a:r>
              <a:rPr lang="en-US" dirty="0"/>
              <a:t>and plan bike deployment using prediction intervals based on demand levels</a:t>
            </a:r>
          </a:p>
          <a:p>
            <a:endParaRPr lang="en-US" dirty="0"/>
          </a:p>
          <a:p>
            <a:r>
              <a:rPr lang="en-US" dirty="0"/>
              <a:t>These changes would significantly improve operational decision-making without major computational cost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concludes my presentation.</a:t>
            </a:r>
          </a:p>
          <a:p>
            <a:r>
              <a:rPr lang="en-US" dirty="0"/>
              <a:t>Thank you for your time.</a:t>
            </a:r>
          </a:p>
          <a:p>
            <a:r>
              <a:rPr lang="en-US" dirty="0"/>
              <a:t>I’d be happy to answer any questions.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85851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1568447"/>
            <a:ext cx="6801440" cy="19431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540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511547"/>
            <a:ext cx="6803136" cy="3429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6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89070" y="1005942"/>
            <a:ext cx="1165860" cy="395410"/>
          </a:xfrm>
        </p:spPr>
        <p:txBody>
          <a:bodyPr/>
          <a:lstStyle>
            <a:lvl1pPr algn="ctr">
              <a:defRPr sz="975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090422" y="3908295"/>
            <a:ext cx="4429125" cy="17145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3909060"/>
            <a:ext cx="1583911" cy="1714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7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5721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085850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1570732"/>
            <a:ext cx="6803136" cy="194081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540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3511547"/>
            <a:ext cx="6803136" cy="3429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effectLst/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91356" y="1008377"/>
            <a:ext cx="1165860" cy="397764"/>
          </a:xfrm>
        </p:spPr>
        <p:txBody>
          <a:bodyPr/>
          <a:lstStyle>
            <a:lvl1pPr algn="ctr">
              <a:defRPr lang="en-US" sz="975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0165" y="3908295"/>
            <a:ext cx="4430268" cy="17145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3908295"/>
            <a:ext cx="1584198" cy="17145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244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774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335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66924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02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0026" y="2067436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44422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46071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18040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8308"/>
            <a:ext cx="6398514" cy="4786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5544"/>
            <a:ext cx="1823085" cy="1234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3085" cy="26289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4667252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4240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2628"/>
            <a:ext cx="1824228" cy="1234440"/>
          </a:xfrm>
        </p:spPr>
        <p:txBody>
          <a:bodyPr anchor="b">
            <a:noAutofit/>
          </a:bodyPr>
          <a:lstStyle>
            <a:lvl1pPr algn="l">
              <a:defRPr sz="21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8308"/>
            <a:ext cx="6398514" cy="478688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4228" cy="262661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75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4670298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57000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8514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571500"/>
            <a:ext cx="1771650" cy="3943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571500"/>
            <a:ext cx="6057900" cy="3943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82564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61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77754-A746-3BE8-03B5-3CB81A41B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2F261-708B-E4AE-1A22-56A00C041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DCC16-F6C2-ED70-0E3F-6D1578B25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639-B2D6-4652-B8C3-1B4C224A7BAF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6E2B-AD65-A643-B8B8-0317EBAA2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D16BB-F751-119E-3FAF-11AC72F5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73322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7D8D-E67F-8A0E-6FC9-18575908D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77C05-D81D-BC22-965D-47D24508E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F4F98-5AE8-6B32-080F-6A9731F9B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208F7-6191-ED6F-0114-646DBDAF8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CBED7-1D50-8D5F-E7CF-63089303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10420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27924-E54D-9782-A927-AAD9F8DF4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4C52F-B595-8112-94A0-6605A17CE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FE18F-3643-C306-A77C-50864D03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961B7-6B89-48AB-966F-622E2788EECC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8249A-B089-38A8-1F37-F4E3955C5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06BB7-6EEE-5110-E303-F7885AC77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16486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CC1B8-A3B5-18A8-618B-A2A221B9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388D4-59A2-B9E8-9A63-47D7DAA18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EDF45-55CF-3CC1-FFC0-984BB2B29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96674-B911-0297-4153-70D95658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5099E-595D-1390-ECD2-4C2616138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46E07-585F-1650-C954-F39CF3C3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7463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55FE5-145B-51C4-6CCF-36F9B4F39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04165-61B2-CD13-224C-5BA84359A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F5752-47CD-4E02-D358-160F0F3E7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A369FB-DD61-8660-FC27-8D02D0AB1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04650-0BE9-32F3-C6EE-D42526457A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2A1EEF-002B-C923-A690-4CE43B13F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B3128E-A802-D85E-A2D4-22A57CD1B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7781C3-79CE-93B5-09DB-B85F825F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39068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08670-079C-35A0-1D78-429E90C2C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96162E-24D6-4A30-0A79-F16B89983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44348-5392-741D-78DF-AB1F2A38D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635F7-51FB-558B-4B42-E8040D2C5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404194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8994EA-E34D-24AB-62E1-8B531A6EF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79FE07-4784-A9FC-B88D-6C000EB3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ED3E3-857A-F240-B7E2-9198CE869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28784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0A188-97F0-228A-B317-730712266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2A1BB-CA57-231C-898F-43AEA5E0C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CC17C-4B0A-2D5D-B75F-92A186495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4B6FE-B3E1-D801-6A98-F43BECA97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A14A4-CEEE-E608-AC8E-E353AEF8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714D1-FCD0-2CBA-B794-5787FE10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0756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27B0-3DC7-67E3-F9D9-0C7ADB9A9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34557D-297F-C089-C602-5BF8129488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0A5E7-AD4A-09DB-656F-ED5F95FF9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0FEA0-08F5-A773-850A-91604F97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4A90-EB03-42F3-8859-2C2B2724C058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EC718-9E8B-0B59-98F0-1E07B1B46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79794-DCB4-A100-2A3A-C0071730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869728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05C67-B0B7-3EE1-E897-DC221BAA0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8849EF-E403-4CCA-B74A-A923BCFCE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54009-669F-C698-210B-E402477C7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20142-7F25-9EF4-7413-B9E4D36D3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D912C-0AAC-3279-F04D-ED3D6B6B7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47906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F08789-90EB-1863-8E60-C3AEFB9703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86E06-1169-A632-D9BC-263A29236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31C85-C2CA-7514-57C9-616CF2E8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A80DA-8C9C-CE25-45B7-84047C7ED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796AE-7CF9-BCFB-AC5C-B2B81A4F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27509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85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5740" y="4730754"/>
            <a:ext cx="205740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7470" y="4730754"/>
            <a:ext cx="390906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4730754"/>
            <a:ext cx="109728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073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36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9229C1-4393-3CE6-0CB3-0E448ED80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BEDCB-2E52-3E3A-B172-09B374DCE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C7E00-D143-4ECC-613A-090408F46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C32B2D-32BE-433D-BFD3-3B44715C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3CABD-3E5E-9760-690A-722DCD8D6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6F8A0-23D5-9AB7-9E0E-1255EA77E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0C5A5-A024-4A9D-9C47-F1AE21FBA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75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4A6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CycleSense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Analytics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8CC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 solutions for urban bike-sharing systems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55660" y="2560320"/>
            <a:ext cx="3988340" cy="25831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2560320"/>
            <a:ext cx="411480" cy="25831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II: Individual Industry Case Study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 595: Time Series Analysis and Forecasting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92820" y="4389120"/>
            <a:ext cx="37140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Presented By: Thejaswini Mundargi -- </a:t>
            </a:r>
            <a:r>
              <a:rPr lang="en-US" sz="1100" b="1" dirty="0">
                <a:solidFill>
                  <a:srgbClr val="3C4F52"/>
                </a:solidFill>
                <a:latin typeface="Abadi" panose="020B0604020104020204" pitchFamily="34" charset="0"/>
                <a:ea typeface="Georgia" pitchFamily="34" charset="-122"/>
                <a:cs typeface="Georgia" pitchFamily="34" charset="-120"/>
              </a:rPr>
              <a:t>A20586100</a:t>
            </a:r>
            <a:endParaRPr lang="en-US" sz="1100"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Context &amp; Objective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2286000" cy="0"/>
          </a:xfrm>
          <a:prstGeom prst="line">
            <a:avLst/>
          </a:prstGeom>
          <a:noFill/>
          <a:ln w="19050">
            <a:solidFill>
              <a:srgbClr val="4A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64743"/>
            <a:ext cx="7542685" cy="32141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Who we are?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400" dirty="0"/>
              <a:t>~ We are CycleSense Analytics, and we specialize in helping, city bike-share programs run better</a:t>
            </a:r>
          </a:p>
          <a:p>
            <a:endParaRPr lang="en-US" sz="1400" dirty="0">
              <a:solidFill>
                <a:srgbClr val="3C4F52"/>
              </a:solidFill>
              <a:latin typeface="Georgia" panose="02040502050405020303" pitchFamily="18" charset="0"/>
              <a:ea typeface="Calibri" pitchFamily="34" charset="-122"/>
              <a:cs typeface="Calibri" pitchFamily="34" charset="-120"/>
            </a:endParaRPr>
          </a:p>
          <a:p>
            <a:r>
              <a:rPr lang="en-US" b="1" dirty="0">
                <a:solidFill>
                  <a:srgbClr val="104862"/>
                </a:solidFill>
                <a:latin typeface="Georgia" panose="02040502050405020303" pitchFamily="18" charset="0"/>
              </a:rPr>
              <a:t>The Mission</a:t>
            </a:r>
          </a:p>
          <a:p>
            <a:r>
              <a:rPr lang="en-US" sz="1400" dirty="0"/>
              <a:t>We are predicting bike rentals for Washington D.C.’s “Capital Bikeshare” 14 days in advance</a:t>
            </a:r>
            <a:endParaRPr lang="en-US" sz="1400" dirty="0">
              <a:solidFill>
                <a:srgbClr val="3C4F52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3C4F52"/>
              </a:solidFill>
              <a:latin typeface="Georgia" panose="02040502050405020303" pitchFamily="18" charset="0"/>
              <a:ea typeface="Calibri" pitchFamily="34" charset="-122"/>
              <a:cs typeface="Calibri" pitchFamily="34" charset="-120"/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Georgia" panose="02040502050405020303" pitchFamily="18" charset="0"/>
              </a:rPr>
              <a:t>Why 14 days?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Georgia" panose="02040502050405020303" pitchFamily="18" charset="0"/>
              </a:rPr>
              <a:t> </a:t>
            </a:r>
          </a:p>
          <a:p>
            <a:r>
              <a:rPr lang="en-US" sz="1400" dirty="0"/>
              <a:t>Rebalancing truck routes and staff schedules are planned 1-2 weeks ahead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 this is the operational planning horizon</a:t>
            </a:r>
            <a:endParaRPr lang="en-US" sz="1400" dirty="0">
              <a:solidFill>
                <a:srgbClr val="3C4F52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latin typeface="Georgia" panose="02040502050405020303" pitchFamily="18" charset="0"/>
            </a:endParaRPr>
          </a:p>
          <a:p>
            <a:endParaRPr lang="en-US" sz="1400" b="1" dirty="0">
              <a:latin typeface="Georgia" panose="02040502050405020303" pitchFamily="18" charset="0"/>
            </a:endParaRPr>
          </a:p>
          <a:p>
            <a:endParaRPr lang="en-US" sz="1400" b="1" dirty="0">
              <a:latin typeface="Georgia" panose="02040502050405020303" pitchFamily="18" charset="0"/>
            </a:endParaRPr>
          </a:p>
          <a:p>
            <a:r>
              <a:rPr lang="en-US" sz="1400" b="1" dirty="0">
                <a:latin typeface="Georgia" panose="02040502050405020303" pitchFamily="18" charset="0"/>
              </a:rPr>
              <a:t>Deliverable:</a:t>
            </a:r>
            <a:r>
              <a:rPr lang="en-US" sz="1400" dirty="0">
                <a:latin typeface="Georgia" panose="02040502050405020303" pitchFamily="18" charset="0"/>
              </a:rPr>
              <a:t> </a:t>
            </a:r>
            <a:r>
              <a:rPr lang="en-US" sz="1400" dirty="0"/>
              <a:t>Point forecasts + prediction intervals to quantify demand uncertainty for fleet sizing decisions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13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715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3741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6301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0325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2885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F0DDAC-7C50-311D-36F4-D6E72EF2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AFBCB9-A2E3-AE0C-A383-55EAF260882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43E650-5EA0-7690-DB76-08C5B08A6D50}"/>
              </a:ext>
            </a:extLst>
          </p:cNvPr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Context &amp; Objective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3A6F4E2-9790-5929-AD3F-7961A2DFD5BB}"/>
              </a:ext>
            </a:extLst>
          </p:cNvPr>
          <p:cNvSpPr/>
          <p:nvPr/>
        </p:nvSpPr>
        <p:spPr>
          <a:xfrm>
            <a:off x="548640" y="685800"/>
            <a:ext cx="2286000" cy="0"/>
          </a:xfrm>
          <a:prstGeom prst="line">
            <a:avLst/>
          </a:prstGeom>
          <a:noFill/>
          <a:ln w="19050">
            <a:solidFill>
              <a:srgbClr val="4A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F030B63-BB0D-3D6C-C945-00275676B042}"/>
              </a:ext>
            </a:extLst>
          </p:cNvPr>
          <p:cNvSpPr/>
          <p:nvPr/>
        </p:nvSpPr>
        <p:spPr>
          <a:xfrm>
            <a:off x="548640" y="1741539"/>
            <a:ext cx="4814543" cy="29536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4A6B6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b="1" dirty="0">
              <a:solidFill>
                <a:srgbClr val="4A6B6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b="1" dirty="0">
              <a:solidFill>
                <a:srgbClr val="4A6B6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dirty="0">
                <a:solidFill>
                  <a:srgbClr val="104862"/>
                </a:solidFill>
                <a:latin typeface="Georgia" panose="02040502050405020303" pitchFamily="18" charset="0"/>
              </a:rPr>
              <a:t>Station Rebalancing</a:t>
            </a:r>
          </a:p>
          <a:p>
            <a:r>
              <a:rPr lang="en-US" sz="1300" dirty="0"/>
              <a:t>Trucks move bikes between stations at night. To plan routes properly, we need to estimate demand 1–2 weeks in advance.</a:t>
            </a:r>
          </a:p>
          <a:p>
            <a:endParaRPr lang="en-US" sz="1200" dirty="0">
              <a:latin typeface="Georgia" panose="02040502050405020303" pitchFamily="18" charset="0"/>
            </a:endParaRPr>
          </a:p>
          <a:p>
            <a:r>
              <a:rPr lang="en-US" sz="1200" b="1" dirty="0">
                <a:solidFill>
                  <a:srgbClr val="104862"/>
                </a:solidFill>
                <a:latin typeface="Georgia" panose="02040502050405020303" pitchFamily="18" charset="0"/>
              </a:rPr>
              <a:t>Maintenance Periods</a:t>
            </a:r>
          </a:p>
          <a:p>
            <a:r>
              <a:rPr lang="en-US" sz="1300" dirty="0"/>
              <a:t>Bikes need regular servicing. It is best to do this on days when fewer people are expected to use them.</a:t>
            </a:r>
          </a:p>
          <a:p>
            <a:endParaRPr lang="en-US" sz="1200" dirty="0">
              <a:latin typeface="Georgia" panose="02040502050405020303" pitchFamily="18" charset="0"/>
            </a:endParaRPr>
          </a:p>
          <a:p>
            <a:r>
              <a:rPr lang="en-US" sz="1200" b="1" dirty="0">
                <a:solidFill>
                  <a:srgbClr val="104862"/>
                </a:solidFill>
                <a:latin typeface="Georgia" panose="02040502050405020303" pitchFamily="18" charset="0"/>
              </a:rPr>
              <a:t>Workforce Planning</a:t>
            </a:r>
          </a:p>
          <a:p>
            <a:r>
              <a:rPr lang="en-US" sz="1300" dirty="0"/>
              <a:t>Weekly schedules depend on demand forecasts to decide how many staff are needed.</a:t>
            </a:r>
          </a:p>
          <a:p>
            <a:endParaRPr lang="en-US" sz="12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200" b="1" dirty="0">
                <a:solidFill>
                  <a:srgbClr val="104862"/>
                </a:solidFill>
                <a:latin typeface="Georgia" panose="02040502050405020303" pitchFamily="18" charset="0"/>
              </a:rPr>
              <a:t>Budgeting</a:t>
            </a:r>
          </a:p>
          <a:p>
            <a:r>
              <a:rPr lang="en-US" sz="1300" dirty="0"/>
              <a:t>Overestimating wastes resources; underestimating leads to empty stations and lost revenue. 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F577424-8049-803B-0D3D-0801260EE54D}"/>
              </a:ext>
            </a:extLst>
          </p:cNvPr>
          <p:cNvSpPr/>
          <p:nvPr/>
        </p:nvSpPr>
        <p:spPr>
          <a:xfrm>
            <a:off x="73152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C97C4D6-8D9C-4152-F8DA-A48F6EE428A1}"/>
              </a:ext>
            </a:extLst>
          </p:cNvPr>
          <p:cNvSpPr/>
          <p:nvPr/>
        </p:nvSpPr>
        <p:spPr>
          <a:xfrm>
            <a:off x="731520" y="2313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5C0847C-376E-6B49-B8BB-15BF2378009D}"/>
              </a:ext>
            </a:extLst>
          </p:cNvPr>
          <p:cNvSpPr/>
          <p:nvPr/>
        </p:nvSpPr>
        <p:spPr>
          <a:xfrm>
            <a:off x="731520" y="2715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E9DC824-D716-FD33-8554-EB4680A4F96A}"/>
              </a:ext>
            </a:extLst>
          </p:cNvPr>
          <p:cNvSpPr/>
          <p:nvPr/>
        </p:nvSpPr>
        <p:spPr>
          <a:xfrm>
            <a:off x="731520" y="2971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681B725-432B-55E1-B33E-37A1A8C41146}"/>
              </a:ext>
            </a:extLst>
          </p:cNvPr>
          <p:cNvSpPr/>
          <p:nvPr/>
        </p:nvSpPr>
        <p:spPr>
          <a:xfrm>
            <a:off x="731520" y="33741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FBCB0EC-7E9B-DC29-848D-4856331D1DEB}"/>
              </a:ext>
            </a:extLst>
          </p:cNvPr>
          <p:cNvSpPr/>
          <p:nvPr/>
        </p:nvSpPr>
        <p:spPr>
          <a:xfrm>
            <a:off x="731520" y="36301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36D4090-8032-6AA9-DBF4-AC396858E938}"/>
              </a:ext>
            </a:extLst>
          </p:cNvPr>
          <p:cNvSpPr/>
          <p:nvPr/>
        </p:nvSpPr>
        <p:spPr>
          <a:xfrm>
            <a:off x="731520" y="40325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4285A9E-A2DA-09B2-1073-9414290D3FBB}"/>
              </a:ext>
            </a:extLst>
          </p:cNvPr>
          <p:cNvSpPr/>
          <p:nvPr/>
        </p:nvSpPr>
        <p:spPr>
          <a:xfrm>
            <a:off x="731520" y="42885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AFDECCA9-44E4-E376-1117-E3C8D48F7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344524"/>
              </p:ext>
            </p:extLst>
          </p:nvPr>
        </p:nvGraphicFramePr>
        <p:xfrm>
          <a:off x="5508613" y="1551750"/>
          <a:ext cx="3350042" cy="32138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24362">
                  <a:extLst>
                    <a:ext uri="{9D8B030D-6E8A-4147-A177-3AD203B41FA5}">
                      <a16:colId xmlns:a16="http://schemas.microsoft.com/office/drawing/2014/main" val="1487843044"/>
                    </a:ext>
                  </a:extLst>
                </a:gridCol>
                <a:gridCol w="2225680">
                  <a:extLst>
                    <a:ext uri="{9D8B030D-6E8A-4147-A177-3AD203B41FA5}">
                      <a16:colId xmlns:a16="http://schemas.microsoft.com/office/drawing/2014/main" val="4198190700"/>
                    </a:ext>
                  </a:extLst>
                </a:gridCol>
              </a:tblGrid>
              <a:tr h="26361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Category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116005"/>
                  </a:ext>
                </a:extLst>
              </a:tr>
              <a:tr h="44398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/>
                        </a:rPr>
                        <a:t>Capital Bikeshare, Washington D.C.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66590"/>
                  </a:ext>
                </a:extLst>
              </a:tr>
              <a:tr h="44398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/>
                        </a:rPr>
                        <a:t>Jan 2011 - Dec 2012 (731 days)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119251"/>
                  </a:ext>
                </a:extLst>
              </a:tr>
              <a:tr h="292254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Granularity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/>
                        </a:rPr>
                        <a:t>Hourly is aggregated to daily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509935"/>
                  </a:ext>
                </a:extLst>
              </a:tr>
              <a:tr h="292254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/>
                        </a:rPr>
                        <a:t>17,379 hourly observations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387844"/>
                  </a:ext>
                </a:extLst>
              </a:tr>
              <a:tr h="44398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/>
                        </a:rPr>
                        <a:t>Daily total rentals (</a:t>
                      </a:r>
                      <a:r>
                        <a:rPr lang="en-US" sz="1300" dirty="0" err="1">
                          <a:solidFill>
                            <a:schemeClr val="tx1"/>
                          </a:solidFill>
                          <a:latin typeface="+mn-lt"/>
                        </a:rPr>
                        <a:t>cnt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  <a:p>
                      <a:endParaRPr lang="en-US" sz="13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866926"/>
                  </a:ext>
                </a:extLst>
              </a:tr>
              <a:tr h="292254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Avg 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/>
                        </a:rPr>
                        <a:t>4,504 rentals/day (σ = 1,937)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606578"/>
                  </a:ext>
                </a:extLst>
              </a:tr>
              <a:tr h="292254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/>
                        </a:rPr>
                        <a:t>22 - 8714 rentals/day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789794"/>
                  </a:ext>
                </a:extLst>
              </a:tr>
              <a:tr h="292254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/>
                        </a:rPr>
                        <a:t>None (zero nulls, zero gaps)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58449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1A0A309-3637-72E8-5775-9F55895803D2}"/>
              </a:ext>
            </a:extLst>
          </p:cNvPr>
          <p:cNvSpPr txBox="1"/>
          <p:nvPr/>
        </p:nvSpPr>
        <p:spPr>
          <a:xfrm>
            <a:off x="5801252" y="1110603"/>
            <a:ext cx="2714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 Quick Glance at Dataset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657282-E15D-2D14-9045-1B4C89BC2995}"/>
              </a:ext>
            </a:extLst>
          </p:cNvPr>
          <p:cNvSpPr txBox="1"/>
          <p:nvPr/>
        </p:nvSpPr>
        <p:spPr>
          <a:xfrm>
            <a:off x="548639" y="1110603"/>
            <a:ext cx="39325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Why accurate forecasts matter?</a:t>
            </a:r>
          </a:p>
        </p:txBody>
      </p:sp>
    </p:spTree>
    <p:extLst>
      <p:ext uri="{BB962C8B-B14F-4D97-AF65-F5344CB8AC3E}">
        <p14:creationId xmlns:p14="http://schemas.microsoft.com/office/powerpoint/2010/main" val="267196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F43ED-2B22-FC36-B1F5-F97553EA2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142E96-3455-4F07-F5F3-379EABB2D02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56D74A-42CD-AB63-EE21-E32C2A7D13A1}"/>
              </a:ext>
            </a:extLst>
          </p:cNvPr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Characteristics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ED4440B-E1A2-2E8C-594F-912012E7F887}"/>
              </a:ext>
            </a:extLst>
          </p:cNvPr>
          <p:cNvSpPr/>
          <p:nvPr/>
        </p:nvSpPr>
        <p:spPr>
          <a:xfrm>
            <a:off x="548640" y="685800"/>
            <a:ext cx="2286000" cy="0"/>
          </a:xfrm>
          <a:prstGeom prst="line">
            <a:avLst/>
          </a:prstGeom>
          <a:noFill/>
          <a:ln w="19050">
            <a:solidFill>
              <a:srgbClr val="4A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A9901A2F-C1D8-32E9-CFA8-48294BD8D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575088"/>
              </p:ext>
            </p:extLst>
          </p:nvPr>
        </p:nvGraphicFramePr>
        <p:xfrm>
          <a:off x="1597282" y="813816"/>
          <a:ext cx="5949435" cy="2331720"/>
        </p:xfrm>
        <a:graphic>
          <a:graphicData uri="http://schemas.openxmlformats.org/drawingml/2006/table">
            <a:tbl>
              <a:tblPr/>
              <a:tblGrid>
                <a:gridCol w="1409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1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n-lt"/>
                        </a:rPr>
                        <a:t>Feature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n-lt"/>
                        </a:rPr>
                        <a:t>Description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n-lt"/>
                        </a:rPr>
                        <a:t>Type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1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+mn-lt"/>
                        </a:rPr>
                        <a:t>cnt (target)</a:t>
                      </a:r>
                      <a:endParaRPr lang="en-US" sz="1100" b="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Total bike rentals = casual + registered users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Integer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1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temp / atemp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Temperature / feels-like temperature (normalized to 0-1)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Continuous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1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hum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Relative humidity (normalized to 0-1)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Continuous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1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windspeed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Wind speed (normalized to 0-1)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Continuous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1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weathersit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1=Clear, 2=Mist/Cloud, 3=Light rain/snow, 4=Heavy rain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Ordinal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1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season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1=Spring, 2=Summer, 3=Fall, 4=Winter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Categorical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holiday / workingday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1= weekday (not weekend or holiday), 0 otherwise</a:t>
                      </a: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Binary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1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weekday / hr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Day of week (0=Sun to 6=Sat) / Hour of day (0-23)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</a:rPr>
                        <a:t>Categorical</a:t>
                      </a:r>
                      <a:endParaRPr lang="en-US" sz="11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C35A544-C513-528D-A293-ADC4B13CA924}"/>
              </a:ext>
            </a:extLst>
          </p:cNvPr>
          <p:cNvSpPr txBox="1"/>
          <p:nvPr/>
        </p:nvSpPr>
        <p:spPr>
          <a:xfrm>
            <a:off x="603116" y="3349435"/>
            <a:ext cx="8372271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104862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Preprocessing &amp; Evaluation Design</a:t>
            </a:r>
          </a:p>
          <a:p>
            <a:endParaRPr lang="en-US" sz="1200" b="1" dirty="0">
              <a:solidFill>
                <a:srgbClr val="104862"/>
              </a:solidFill>
              <a:latin typeface="Georgia" panose="02040502050405020303" pitchFamily="18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Data Aggregation</a:t>
            </a:r>
            <a:r>
              <a:rPr lang="en-US" sz="1300" dirty="0"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/>
              <a:t>Converted hourly data into daily totals for forecasting </a:t>
            </a:r>
            <a:endParaRPr lang="en-US" sz="1300" dirty="0"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ea typeface="Calibri" pitchFamily="34" charset="-122"/>
                <a:cs typeface="Calibri" pitchFamily="34" charset="-120"/>
              </a:rPr>
              <a:t>De-normalized features for interpretability: temp ×41°C, humidity ×100%, wind ×67 km/h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ea typeface="Calibri" pitchFamily="34" charset="-122"/>
                <a:cs typeface="Calibri" pitchFamily="34" charset="-120"/>
              </a:rPr>
              <a:t>3 extreme low-demand days (weather cat 4) are retained as legitimate data points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ea typeface="Calibri" pitchFamily="34" charset="-122"/>
                <a:cs typeface="Calibri" pitchFamily="34" charset="-120"/>
              </a:rPr>
              <a:t>76/731 days have &lt;24 hourly records low activity late-night hours, but daily totals are still accurate</a:t>
            </a:r>
          </a:p>
          <a:p>
            <a:pPr>
              <a:buSzPct val="100000"/>
            </a:pPr>
            <a:endParaRPr lang="en-US" sz="1300" i="1" dirty="0">
              <a:solidFill>
                <a:schemeClr val="tx2"/>
              </a:solidFill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r>
              <a:rPr lang="en-US" sz="1300" i="1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Primary test: Dec 1–14, 2012 (14 days)  |  Holiday case study: Dec 18–31  |  Validation: 10 rolling tests × 14-day windows</a:t>
            </a:r>
            <a:endParaRPr lang="en-US" sz="1300" dirty="0"/>
          </a:p>
          <a:p>
            <a:endParaRPr lang="en-US" sz="11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85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6FF86-88C4-4D73-82D1-905F3DAFE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819C0A-98EA-8FB0-8B8A-3AB1ACBFBC7A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18335C-AB9D-4812-6699-3D0ED8EEE73B}"/>
              </a:ext>
            </a:extLst>
          </p:cNvPr>
          <p:cNvSpPr/>
          <p:nvPr/>
        </p:nvSpPr>
        <p:spPr>
          <a:xfrm>
            <a:off x="380028" y="251524"/>
            <a:ext cx="3621283" cy="374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Analysis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2364CB2-8B34-F936-9F82-5531536ADF8D}"/>
              </a:ext>
            </a:extLst>
          </p:cNvPr>
          <p:cNvSpPr/>
          <p:nvPr/>
        </p:nvSpPr>
        <p:spPr>
          <a:xfrm>
            <a:off x="548640" y="685800"/>
            <a:ext cx="2286000" cy="0"/>
          </a:xfrm>
          <a:prstGeom prst="line">
            <a:avLst/>
          </a:prstGeom>
          <a:noFill/>
          <a:ln w="19050">
            <a:solidFill>
              <a:srgbClr val="4A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527A7CB-EA04-4383-8496-CEE363943C50}"/>
              </a:ext>
            </a:extLst>
          </p:cNvPr>
          <p:cNvSpPr/>
          <p:nvPr/>
        </p:nvSpPr>
        <p:spPr>
          <a:xfrm>
            <a:off x="548640" y="3782924"/>
            <a:ext cx="8070066" cy="1109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200" dirty="0"/>
              <a:t>Comprehensive EDA revealed several crucial patterns in the historical data: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104862"/>
                </a:solidFill>
                <a:latin typeface="Georgia" panose="02040502050405020303" pitchFamily="18" charset="0"/>
              </a:rPr>
              <a:t>Trend &amp; Seasonality:</a:t>
            </a:r>
            <a:r>
              <a:rPr lang="en-US" sz="1200" dirty="0">
                <a:solidFill>
                  <a:srgbClr val="104862"/>
                </a:solidFill>
                <a:latin typeface="Georgia" panose="02040502050405020303" pitchFamily="18" charset="0"/>
              </a:rPr>
              <a:t> </a:t>
            </a:r>
            <a:r>
              <a:rPr lang="en-US" sz="1200" dirty="0"/>
              <a:t>Demand grew ~65% from 2011 to 2012, with a clear weekly cycle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104862"/>
                </a:solidFill>
                <a:latin typeface="Georgia" panose="02040502050405020303" pitchFamily="18" charset="0"/>
              </a:rPr>
              <a:t>User Variances:</a:t>
            </a:r>
            <a:r>
              <a:rPr lang="en-US" sz="1200" dirty="0">
                <a:solidFill>
                  <a:srgbClr val="104862"/>
                </a:solidFill>
                <a:latin typeface="Georgia" panose="02040502050405020303" pitchFamily="18" charset="0"/>
              </a:rPr>
              <a:t> </a:t>
            </a:r>
            <a:r>
              <a:rPr lang="en-US" sz="1200" dirty="0"/>
              <a:t>Registered users (~81%) dominate; casual users (~19%) spike on weekends and are more weather-sensitive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104862"/>
                </a:solidFill>
                <a:latin typeface="Georgia" panose="02040502050405020303" pitchFamily="18" charset="0"/>
              </a:rPr>
              <a:t>Weather Impact:</a:t>
            </a:r>
            <a:r>
              <a:rPr lang="en-US" sz="1200" dirty="0">
                <a:solidFill>
                  <a:srgbClr val="104862"/>
                </a:solidFill>
                <a:latin typeface="Georgia" panose="02040502050405020303" pitchFamily="18" charset="0"/>
              </a:rPr>
              <a:t> </a:t>
            </a:r>
            <a:r>
              <a:rPr lang="en-US" sz="1200" dirty="0"/>
              <a:t>Temperature is the strongest predictor (r = 0.63). Rain/snow reduces demand by ~40%</a:t>
            </a:r>
          </a:p>
        </p:txBody>
      </p:sp>
      <p:pic>
        <p:nvPicPr>
          <p:cNvPr id="9" name="Image 0" descr="Line chart showing daily bike rental demand in Washington D.C. from 2011 to 2012">
            <a:extLst>
              <a:ext uri="{FF2B5EF4-FFF2-40B4-BE49-F238E27FC236}">
                <a16:creationId xmlns:a16="http://schemas.microsoft.com/office/drawing/2014/main" id="{831CF1F9-7BEF-5FC6-0EB1-0433DB7CAF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785" y="715827"/>
            <a:ext cx="8222429" cy="297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280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Patterns &amp; Drivers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2286000" cy="0"/>
          </a:xfrm>
          <a:prstGeom prst="line">
            <a:avLst/>
          </a:prstGeom>
          <a:noFill/>
          <a:ln w="19050">
            <a:solidFill>
              <a:srgbClr val="4A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19" y="822960"/>
            <a:ext cx="5802225" cy="2011680"/>
          </a:xfrm>
          <a:prstGeom prst="rect">
            <a:avLst/>
          </a:prstGeom>
        </p:spPr>
      </p:pic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9" y="3108748"/>
            <a:ext cx="5619346" cy="2011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62715" y="989627"/>
            <a:ext cx="2706965" cy="369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250000"/>
              </a:lnSpc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Key Observations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Working days: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en-US" sz="1100" dirty="0">
                <a:latin typeface="Georgia" panose="02040502050405020303" pitchFamily="18" charset="0"/>
              </a:rPr>
              <a:t>Bimodal commuter peaks (8AM, 5-6PM); weekends have a single midday peak. Working-day demand averages 18% higher</a:t>
            </a:r>
          </a:p>
          <a:p>
            <a:pPr>
              <a:lnSpc>
                <a:spcPct val="150000"/>
              </a:lnSpc>
            </a:pPr>
            <a:endParaRPr lang="en-US" sz="11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Temperature: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en-US" sz="1100" dirty="0">
                <a:latin typeface="Georgia" panose="02040502050405020303" pitchFamily="18" charset="0"/>
              </a:rPr>
              <a:t>Demand increases linearly up to ~30°C, then plateaus</a:t>
            </a:r>
          </a:p>
          <a:p>
            <a:pPr>
              <a:lnSpc>
                <a:spcPct val="150000"/>
              </a:lnSpc>
            </a:pPr>
            <a:endParaRPr lang="en-US" sz="11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Seasonality: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en-US" sz="1100" dirty="0">
                <a:latin typeface="Georgia" panose="02040502050405020303" pitchFamily="18" charset="0"/>
              </a:rPr>
              <a:t>Fall has highest demand (5,372/day)</a:t>
            </a:r>
            <a:endParaRPr lang="en-US" sz="1100" b="1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B0B3A-2577-073D-9475-AEEB0E617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AB66AA-22B5-B16B-ABCE-52DD564A8DF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4BFA380-B956-9E75-184C-BA0D430CDEEC}"/>
              </a:ext>
            </a:extLst>
          </p:cNvPr>
          <p:cNvSpPr/>
          <p:nvPr/>
        </p:nvSpPr>
        <p:spPr>
          <a:xfrm>
            <a:off x="548640" y="685800"/>
            <a:ext cx="2286000" cy="0"/>
          </a:xfrm>
          <a:prstGeom prst="line">
            <a:avLst/>
          </a:prstGeom>
          <a:noFill/>
          <a:ln w="19050">
            <a:solidFill>
              <a:srgbClr val="4A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>
            <a:extLst>
              <a:ext uri="{FF2B5EF4-FFF2-40B4-BE49-F238E27FC236}">
                <a16:creationId xmlns:a16="http://schemas.microsoft.com/office/drawing/2014/main" id="{24B684A8-1EBA-8B66-86CA-4D24C4F588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000" y="908341"/>
            <a:ext cx="8132000" cy="230587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E1E11F29-5130-C006-7D84-868A49C9F38D}"/>
              </a:ext>
            </a:extLst>
          </p:cNvPr>
          <p:cNvSpPr/>
          <p:nvPr/>
        </p:nvSpPr>
        <p:spPr>
          <a:xfrm>
            <a:off x="817123" y="3633733"/>
            <a:ext cx="7820877" cy="867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104862"/>
                </a:solidFill>
                <a:latin typeface="Georgia" panose="02040502050405020303" pitchFamily="18" charset="0"/>
              </a:rPr>
              <a:t>ACF:</a:t>
            </a:r>
            <a:r>
              <a:rPr lang="en-US" sz="11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en-US" sz="1100" dirty="0">
                <a:latin typeface="Georgia" panose="02040502050405020303" pitchFamily="18" charset="0"/>
              </a:rPr>
              <a:t>Gradual decline with spikes at lags 7, 14, 21; confirms weekly seasonality and strong persistence in demand</a:t>
            </a: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104862"/>
                </a:solidFill>
                <a:latin typeface="Georgia" panose="02040502050405020303" pitchFamily="18" charset="0"/>
              </a:rPr>
              <a:t>PACF:</a:t>
            </a:r>
            <a:r>
              <a:rPr lang="en-US" sz="1100" dirty="0">
                <a:solidFill>
                  <a:srgbClr val="104862"/>
                </a:solidFill>
                <a:latin typeface="Georgia" panose="02040502050405020303" pitchFamily="18" charset="0"/>
              </a:rPr>
              <a:t> </a:t>
            </a:r>
            <a:r>
              <a:rPr lang="en-US" sz="1100" dirty="0">
                <a:latin typeface="Georgia" panose="02040502050405020303" pitchFamily="18" charset="0"/>
              </a:rPr>
              <a:t>Sharp cutoff after lag 1 with a significant spike at lag 7; supports AR(1) and seasonal AR(1) terms</a:t>
            </a: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104862"/>
                </a:solidFill>
                <a:latin typeface="Georgia" panose="02040502050405020303" pitchFamily="18" charset="0"/>
              </a:rPr>
              <a:t>Model implication:</a:t>
            </a:r>
            <a:r>
              <a:rPr lang="en-US" sz="1100" dirty="0">
                <a:solidFill>
                  <a:srgbClr val="104862"/>
                </a:solidFill>
                <a:latin typeface="Georgia" panose="02040502050405020303" pitchFamily="18" charset="0"/>
              </a:rPr>
              <a:t> </a:t>
            </a:r>
            <a:r>
              <a:rPr lang="en-US" sz="1100" dirty="0">
                <a:latin typeface="Georgia" panose="02040502050405020303" pitchFamily="18" charset="0"/>
              </a:rPr>
              <a:t>Use seasonal period s = 7 with SARIMA(1,1,1)(1,1,1)₇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1AA492-B773-5D85-479F-BC7042473F98}"/>
              </a:ext>
            </a:extLst>
          </p:cNvPr>
          <p:cNvSpPr txBox="1"/>
          <p:nvPr/>
        </p:nvSpPr>
        <p:spPr>
          <a:xfrm>
            <a:off x="548640" y="205198"/>
            <a:ext cx="32970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ACF &amp; PACF Analysis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75352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2286000" cy="0"/>
          </a:xfrm>
          <a:prstGeom prst="line">
            <a:avLst/>
          </a:prstGeom>
          <a:noFill/>
          <a:ln w="19050">
            <a:solidFill>
              <a:srgbClr val="4A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40131"/>
            <a:ext cx="914400" cy="228600"/>
          </a:xfrm>
          <a:prstGeom prst="rect">
            <a:avLst/>
          </a:prstGeom>
          <a:solidFill>
            <a:srgbClr val="4A6B6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00200" y="853866"/>
            <a:ext cx="7132320" cy="882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Damped Holt-Winters: </a:t>
            </a:r>
            <a:r>
              <a:rPr lang="en-US" sz="1300" dirty="0"/>
              <a:t>Deployed as the primary model. Utilizes multiplicative seasonality and additive damped trend to capture the pronounced weekly cycles</a:t>
            </a:r>
            <a:r>
              <a:rPr lang="en-US" sz="1300" dirty="0">
                <a:solidFill>
                  <a:srgbClr val="3C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r>
              <a:rPr lang="en-US" sz="1300" b="1" dirty="0">
                <a:solidFill>
                  <a:srgbClr val="394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method from Phase 1 (OWA=0.907). Damping (φ=0.80) prevents trend overextrapolation</a:t>
            </a:r>
          </a:p>
        </p:txBody>
      </p:sp>
      <p:sp>
        <p:nvSpPr>
          <p:cNvPr id="7" name="Text 5"/>
          <p:cNvSpPr/>
          <p:nvPr/>
        </p:nvSpPr>
        <p:spPr>
          <a:xfrm>
            <a:off x="1554480" y="114300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974715"/>
            <a:ext cx="914400" cy="228600"/>
          </a:xfrm>
          <a:prstGeom prst="rect">
            <a:avLst/>
          </a:prstGeom>
          <a:solidFill>
            <a:srgbClr val="4A6B6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54480" y="1882520"/>
            <a:ext cx="7132320" cy="761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SARIMA(1,1,1)(1,1,1)₇: 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Explores both autoregressive and moving average terms alongside seasonal differentiation. </a:t>
            </a:r>
          </a:p>
          <a:p>
            <a:r>
              <a:rPr lang="en-US" sz="1300" b="1" dirty="0">
                <a:solidFill>
                  <a:srgbClr val="394C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selected via ACF/PACF analysis (AIC=11,553). Provides analytical PIs for comparison</a:t>
            </a:r>
          </a:p>
        </p:txBody>
      </p:sp>
      <p:sp>
        <p:nvSpPr>
          <p:cNvPr id="10" name="Text 8"/>
          <p:cNvSpPr/>
          <p:nvPr/>
        </p:nvSpPr>
        <p:spPr>
          <a:xfrm>
            <a:off x="1554480" y="242316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994660"/>
            <a:ext cx="914400" cy="228600"/>
          </a:xfrm>
          <a:prstGeom prst="rect">
            <a:avLst/>
          </a:prstGeom>
          <a:solidFill>
            <a:srgbClr val="4A6B6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54480" y="2826185"/>
            <a:ext cx="7132320" cy="901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/>
              <a:t>Generated an equal-weight ensemble averaging the outputs of both the Holt-Winters and SARIMA models to smooth potential biases.</a:t>
            </a:r>
          </a:p>
          <a:p>
            <a:r>
              <a:rPr lang="en-US" sz="1300" b="1" dirty="0">
                <a:solidFill>
                  <a:srgbClr val="3C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finding: combinations beat individual methods (sMAPE=12.55%)</a:t>
            </a:r>
          </a:p>
        </p:txBody>
      </p:sp>
      <p:sp>
        <p:nvSpPr>
          <p:cNvPr id="13" name="Text 11"/>
          <p:cNvSpPr/>
          <p:nvPr/>
        </p:nvSpPr>
        <p:spPr>
          <a:xfrm>
            <a:off x="1554480" y="370332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76917" y="3990231"/>
            <a:ext cx="6590165" cy="875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i="1" dirty="0">
                <a:solidFill>
                  <a:srgbClr val="5F6F71"/>
                </a:solidFill>
              </a:rPr>
              <a:t>Evaluation Strategy:</a:t>
            </a:r>
            <a:r>
              <a:rPr lang="en-US" sz="1100" i="1" dirty="0">
                <a:solidFill>
                  <a:srgbClr val="5F6F71"/>
                </a:solidFill>
              </a:rPr>
              <a:t> Conducted a rigorous 10-fold Rolling-Origin Cross-Validation to validate out-of-sample performance and stabilize metrics.</a:t>
            </a:r>
          </a:p>
          <a:p>
            <a:endParaRPr lang="en-US" sz="1100" b="1" i="1" dirty="0">
              <a:solidFill>
                <a:srgbClr val="5F6F7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b="1" i="1" dirty="0">
                <a:solidFill>
                  <a:srgbClr val="5F6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quantification</a:t>
            </a:r>
            <a:r>
              <a:rPr lang="en-US" sz="1100" i="1" dirty="0">
                <a:solidFill>
                  <a:srgbClr val="5F6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Residual bootstrap (n=1,000) for HW; analytical Gaussian for SARIMA. Both at 80% and 95% levels.</a:t>
            </a:r>
            <a:endParaRPr lang="en-US" sz="1100" i="1" dirty="0">
              <a:solidFill>
                <a:srgbClr val="5F6F7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2286000" cy="0"/>
          </a:xfrm>
          <a:prstGeom prst="line">
            <a:avLst/>
          </a:prstGeom>
          <a:noFill/>
          <a:ln w="19050">
            <a:solidFill>
              <a:srgbClr val="4A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5175" y="886967"/>
            <a:ext cx="1941642" cy="251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53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Damped Holt-Winters</a:t>
            </a:r>
            <a:endParaRPr lang="en-US" sz="900" dirty="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71796" y="886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53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Bootstrap Prediction Intervals</a:t>
            </a:r>
            <a:endParaRPr lang="en-US" sz="900" dirty="0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1363" y="32415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B6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Estimated parameters</a:t>
            </a:r>
            <a:endParaRPr lang="en-US" sz="1200" dirty="0">
              <a:latin typeface="Georgia" panose="02040502050405020303" pitchFamily="18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607931"/>
              </p:ext>
            </p:extLst>
          </p:nvPr>
        </p:nvGraphicFramePr>
        <p:xfrm>
          <a:off x="548639" y="3566160"/>
          <a:ext cx="7197741" cy="1532354"/>
        </p:xfrm>
        <a:graphic>
          <a:graphicData uri="http://schemas.openxmlformats.org/drawingml/2006/table">
            <a:tbl>
              <a:tblPr/>
              <a:tblGrid>
                <a:gridCol w="1119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6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α (level)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0.212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Moderate = adapts to recent level shifts without overreacting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β (trend)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0.000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Trend fully determined by long-run pattern, not recent fluctuations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γ (seasonal)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0.000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Weekly seasonal pattern is highly stable over the 2-year period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φ (damping)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75050"/>
                          </a:solidFill>
                        </a:rPr>
                        <a:t>0.800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Strong damping = trend flattens after approx. 5 days, preventing overextrapolation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" name="Picture 13" descr="Code snippet 1">
            <a:extLst>
              <a:ext uri="{FF2B5EF4-FFF2-40B4-BE49-F238E27FC236}">
                <a16:creationId xmlns:a16="http://schemas.microsoft.com/office/drawing/2014/main" id="{C37DDF92-E539-375E-5309-880FA1897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12" y="1188720"/>
            <a:ext cx="4283804" cy="1746503"/>
          </a:xfrm>
          <a:prstGeom prst="rect">
            <a:avLst/>
          </a:prstGeom>
        </p:spPr>
      </p:pic>
      <p:pic>
        <p:nvPicPr>
          <p:cNvPr id="16" name="Picture 15" descr="Code snippet 2">
            <a:extLst>
              <a:ext uri="{FF2B5EF4-FFF2-40B4-BE49-F238E27FC236}">
                <a16:creationId xmlns:a16="http://schemas.microsoft.com/office/drawing/2014/main" id="{FC75A4B0-1C6D-15EB-D546-32791DB5F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884" y="1143000"/>
            <a:ext cx="3736305" cy="17949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2286000" cy="0"/>
          </a:xfrm>
          <a:prstGeom prst="line">
            <a:avLst/>
          </a:prstGeom>
          <a:noFill/>
          <a:ln w="19050">
            <a:solidFill>
              <a:srgbClr val="4A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8595360" cy="256032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820433"/>
              </p:ext>
            </p:extLst>
          </p:nvPr>
        </p:nvGraphicFramePr>
        <p:xfrm>
          <a:off x="1077951" y="3429000"/>
          <a:ext cx="7287836" cy="1295400"/>
        </p:xfrm>
        <a:graphic>
          <a:graphicData uri="http://schemas.openxmlformats.org/drawingml/2006/table">
            <a:tbl>
              <a:tblPr/>
              <a:tblGrid>
                <a:gridCol w="237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84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84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sMAPE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vs Naive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Damped Holt-Winters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8C5A"/>
                          </a:solidFill>
                        </a:rPr>
                        <a:t>818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8C5A"/>
                          </a:solidFill>
                        </a:rPr>
                        <a:t>964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8C5A"/>
                          </a:solidFill>
                        </a:rPr>
                        <a:t>16.2%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8C5A"/>
                          </a:solidFill>
                        </a:rPr>
                        <a:t>−29.2%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SARIMA(1,1,1)(1,1,1)₇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843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1,037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8C5A"/>
                          </a:solidFill>
                        </a:rPr>
                        <a:t>−27.0%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Combination (HW+SARIMA)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824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995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8C5A"/>
                          </a:solidFill>
                        </a:rPr>
                        <a:t>−28.7%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A9E"/>
                          </a:solidFill>
                        </a:rPr>
                        <a:t>Seasonal Naive (baseline)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A9E"/>
                          </a:solidFill>
                        </a:rPr>
                        <a:t>1,155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A9E"/>
                          </a:solidFill>
                        </a:rPr>
                        <a:t>1,613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A9E"/>
                          </a:solidFill>
                        </a:rPr>
                        <a:t>27.6%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A9E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461395" y="4845577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F6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(10 rolling origins):  HW MAE = 1,061 ± 604  |  SARIMA MAE = 1,029 ± 636  |  Combination MAE = 1,040 ± 619</a:t>
            </a:r>
            <a:endParaRPr lang="en-US" sz="1000" dirty="0">
              <a:solidFill>
                <a:srgbClr val="5F6F7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Intervals &amp; Uncertainty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2286000" cy="0"/>
          </a:xfrm>
          <a:prstGeom prst="line">
            <a:avLst/>
          </a:prstGeom>
          <a:noFill/>
          <a:ln w="19050">
            <a:solidFill>
              <a:srgbClr val="4A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4754880" cy="2103120"/>
          </a:xfrm>
          <a:prstGeom prst="rect">
            <a:avLst/>
          </a:prstGeom>
        </p:spPr>
      </p:pic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822960"/>
            <a:ext cx="4023360" cy="210312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106613"/>
              </p:ext>
            </p:extLst>
          </p:nvPr>
        </p:nvGraphicFramePr>
        <p:xfrm>
          <a:off x="2365917" y="3063240"/>
          <a:ext cx="4960806" cy="1295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Damped HW (Bootstrap)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SARIMA (Analytical)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95% PI coverage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85.7%  (target: 95%)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92.9%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80% PI coverage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71.4%  (target: 80%)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Avg. 95% PI width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3,733 rentals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4,144 rentals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MSIS (lower = better)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B8C5A"/>
                          </a:solidFill>
                        </a:rPr>
                        <a:t>42.6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47.3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48640" y="4297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r>
              <a:rPr lang="en-US" sz="1050" dirty="0">
                <a:solidFill>
                  <a:srgbClr val="4A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bootstrap gives tighter intervals (MSIS=42.6 vs 47.3) but under-covers because it ignores parameter uncertainty. For operations, HW intervals are more useful - narrower bands give better fleet guidance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Uncertainty Means for Operations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2286000" cy="0"/>
          </a:xfrm>
          <a:prstGeom prst="line">
            <a:avLst/>
          </a:prstGeom>
          <a:noFill/>
          <a:ln w="19050">
            <a:solidFill>
              <a:srgbClr val="4A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39" y="909192"/>
            <a:ext cx="8154374" cy="1065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B6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Scenario: </a:t>
            </a: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 forecasts 5,200 rentals for tomorrow</a:t>
            </a:r>
          </a:p>
          <a:p>
            <a:pPr marL="0" indent="0">
              <a:buNone/>
            </a:pPr>
            <a:endParaRPr lang="en-US" sz="1150" dirty="0">
              <a:solidFill>
                <a:srgbClr val="3C4F5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b="1" dirty="0">
                <a:solidFill>
                  <a:srgbClr val="3C4F52"/>
                </a:solidFill>
                <a:ea typeface="Calibri" pitchFamily="34" charset="-122"/>
                <a:cs typeface="Calibri" pitchFamily="34" charset="-120"/>
              </a:rPr>
              <a:t>80% PI:  [3,300 – 7,100]  →  Plan supply from 3,300 (conservative) to 7,100 (aggressive)</a:t>
            </a:r>
            <a:endParaRPr lang="en-US" sz="1100" b="1" dirty="0"/>
          </a:p>
          <a:p>
            <a:r>
              <a:rPr lang="en-US" sz="1100" b="1" dirty="0">
                <a:solidFill>
                  <a:srgbClr val="3C4F52"/>
                </a:solidFill>
                <a:ea typeface="Calibri" pitchFamily="34" charset="-122"/>
                <a:cs typeface="Calibri" pitchFamily="34" charset="-120"/>
              </a:rPr>
              <a:t>95% PI:  [2,100 – 8,300]  →  Near-certain range for worst-case capacity planning</a:t>
            </a:r>
            <a:endParaRPr lang="en-US" sz="1100" b="1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1" y="2521901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505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Under-supply risk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5991" y="2679256"/>
            <a:ext cx="4496773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Deploy to point forecast only → 50% chance of stock-outs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risk: summer weekday evenings (commuter peak)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deploy to 80th percentile on high-impact days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34649" y="2521901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953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Over-supply risk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79" y="2697480"/>
            <a:ext cx="4256823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Deploy to 95% upper bound → ~3,700 excess bikes/day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Highest waste: winter, rainy days, holidays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use point forecast for low-stakes periods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Asymmetric strategy - use upper PI for peak periods (cost of empty stations &gt; cost of idle bikes), point forecast for off-peak.</a:t>
            </a:r>
            <a:endParaRPr lang="en-US" sz="1200" i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4FBAEF-6C2C-AC09-C35A-9C683ECDCB8A}"/>
              </a:ext>
            </a:extLst>
          </p:cNvPr>
          <p:cNvSpPr/>
          <p:nvPr/>
        </p:nvSpPr>
        <p:spPr>
          <a:xfrm>
            <a:off x="285991" y="2295728"/>
            <a:ext cx="8725711" cy="1840949"/>
          </a:xfrm>
          <a:prstGeom prst="rect">
            <a:avLst/>
          </a:prstGeom>
          <a:noFill/>
          <a:ln w="9525" cap="flat" cmpd="sng" algn="ctr">
            <a:solidFill>
              <a:srgbClr val="394C4E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Analysis: Holiday Effect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2286000" cy="0"/>
          </a:xfrm>
          <a:prstGeom prst="line">
            <a:avLst/>
          </a:prstGeom>
          <a:noFill/>
          <a:ln w="19050">
            <a:solidFill>
              <a:srgbClr val="4A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813816"/>
            <a:ext cx="8321040" cy="2655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657600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505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Christmas week demand drops 40-60% below model expectations. Both HW and SARIMA rely on recent-history patterns and have zero holiday awareness; this is a structural break they cannot capture. Christmas Day actual was ~1000 vs forecast ~4800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A6B6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Recommendation: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Apply calendar scaling factors: −50% Christmas Day, −30% Christmas Eve &amp; New Year's Eve, −15% other federal holidays. Calibrate these factors annually as more holiday data accumulates.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Reflection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2286000" cy="0"/>
          </a:xfrm>
          <a:prstGeom prst="line">
            <a:avLst/>
          </a:prstGeom>
          <a:noFill/>
          <a:ln w="19050">
            <a:solidFill>
              <a:srgbClr val="4A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29947" y="989857"/>
            <a:ext cx="16518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C5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317145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04862"/>
                </a:solidFill>
                <a:latin typeface="Georgia" panose="02040502050405020303" pitchFamily="18" charset="0"/>
              </a:rPr>
              <a:t>Strong generalizability:</a:t>
            </a:r>
            <a:r>
              <a:rPr lang="en-US" sz="1300" dirty="0">
                <a:solidFill>
                  <a:srgbClr val="104862"/>
                </a:solidFill>
                <a:latin typeface="Georgia" panose="02040502050405020303" pitchFamily="18" charset="0"/>
              </a:rPr>
              <a:t> </a:t>
            </a:r>
            <a:r>
              <a:rPr lang="en-US" sz="1400" dirty="0"/>
              <a:t>Damped Holt-Winters performed best across both M4 data and bike dataset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r>
              <a:rPr lang="en-US" sz="1300" b="1" dirty="0">
                <a:solidFill>
                  <a:srgbClr val="104862"/>
                </a:solidFill>
                <a:latin typeface="Georgia" panose="02040502050405020303" pitchFamily="18" charset="0"/>
              </a:rPr>
              <a:t>Accurate seasonality modeling:</a:t>
            </a:r>
            <a:r>
              <a:rPr lang="en-US" sz="1300" dirty="0">
                <a:solidFill>
                  <a:srgbClr val="104862"/>
                </a:solidFill>
                <a:latin typeface="Georgia" panose="02040502050405020303" pitchFamily="18" charset="0"/>
              </a:rPr>
              <a:t> </a:t>
            </a:r>
            <a:r>
              <a:rPr lang="en-US" sz="1400" dirty="0"/>
              <a:t>Multiplicative component captured real weekday/weekend demand patterns</a:t>
            </a:r>
          </a:p>
          <a:p>
            <a:endParaRPr lang="en-US" sz="1300" dirty="0"/>
          </a:p>
          <a:p>
            <a:r>
              <a:rPr lang="en-US" sz="1300" b="1" dirty="0">
                <a:solidFill>
                  <a:srgbClr val="104862"/>
                </a:solidFill>
                <a:latin typeface="Georgia" panose="02040502050405020303" pitchFamily="18" charset="0"/>
              </a:rPr>
              <a:t>Significant improvement:</a:t>
            </a:r>
            <a:r>
              <a:rPr lang="en-US" sz="1300" dirty="0">
                <a:solidFill>
                  <a:srgbClr val="104862"/>
                </a:solidFill>
                <a:latin typeface="Georgia" panose="02040502050405020303" pitchFamily="18" charset="0"/>
              </a:rPr>
              <a:t> </a:t>
            </a:r>
            <a:r>
              <a:rPr lang="en-US" sz="1400" dirty="0"/>
              <a:t>~29% better than naive baseline, consistent across 10 CV folds</a:t>
            </a:r>
          </a:p>
          <a:p>
            <a:endParaRPr lang="en-US" sz="1400" dirty="0"/>
          </a:p>
          <a:p>
            <a:r>
              <a:rPr lang="en-US" sz="1300" b="1" dirty="0">
                <a:solidFill>
                  <a:srgbClr val="104862"/>
                </a:solidFill>
                <a:latin typeface="Georgia" panose="02040502050405020303" pitchFamily="18" charset="0"/>
              </a:rPr>
              <a:t>Reliable prediction intervals:</a:t>
            </a:r>
            <a:r>
              <a:rPr lang="en-US" sz="1300" dirty="0">
                <a:solidFill>
                  <a:srgbClr val="104862"/>
                </a:solidFill>
                <a:latin typeface="Georgia" panose="02040502050405020303" pitchFamily="18" charset="0"/>
              </a:rPr>
              <a:t> </a:t>
            </a:r>
            <a:r>
              <a:rPr lang="en-US" sz="1400" dirty="0"/>
              <a:t>Bootstrap method produced tighter, more accurate intervals than SARIMA without assumptions</a:t>
            </a:r>
          </a:p>
        </p:txBody>
      </p:sp>
      <p:sp>
        <p:nvSpPr>
          <p:cNvPr id="7" name="Text 5"/>
          <p:cNvSpPr/>
          <p:nvPr/>
        </p:nvSpPr>
        <p:spPr>
          <a:xfrm>
            <a:off x="5389755" y="966997"/>
            <a:ext cx="3100039" cy="3200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505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Limitations &amp; Improvements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59922" y="1127016"/>
            <a:ext cx="3931920" cy="38441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dirty="0">
              <a:solidFill>
                <a:srgbClr val="104862"/>
              </a:solidFill>
            </a:endParaRPr>
          </a:p>
          <a:p>
            <a:r>
              <a:rPr lang="en-US" sz="1300" b="1" dirty="0">
                <a:solidFill>
                  <a:srgbClr val="104862"/>
                </a:solidFill>
                <a:latin typeface="Georgia" panose="02040502050405020303" pitchFamily="18" charset="0"/>
              </a:rPr>
              <a:t>Holiday effects missed: </a:t>
            </a:r>
            <a:r>
              <a:rPr lang="en-US" sz="1400" dirty="0"/>
              <a:t>Large errors during events like Christmas; add calendar features or use regression-based models</a:t>
            </a:r>
          </a:p>
          <a:p>
            <a:endParaRPr lang="en-US" sz="1300" dirty="0">
              <a:solidFill>
                <a:srgbClr val="104862"/>
              </a:solidFill>
            </a:endParaRPr>
          </a:p>
          <a:p>
            <a:r>
              <a:rPr lang="en-US" sz="1300" b="1" dirty="0">
                <a:solidFill>
                  <a:srgbClr val="104862"/>
                </a:solidFill>
                <a:latin typeface="Georgia" panose="02040502050405020303" pitchFamily="18" charset="0"/>
              </a:rPr>
              <a:t>Prediction interval gap: </a:t>
            </a:r>
            <a:r>
              <a:rPr lang="en-US" sz="1400" dirty="0"/>
              <a:t>85.7% vs 95% target, improve with conformal prediction or Bayesian methods</a:t>
            </a:r>
          </a:p>
          <a:p>
            <a:endParaRPr lang="en-US" sz="1400" dirty="0"/>
          </a:p>
          <a:p>
            <a:r>
              <a:rPr lang="en-US" sz="1300" b="1" dirty="0">
                <a:solidFill>
                  <a:srgbClr val="104862"/>
                </a:solidFill>
                <a:latin typeface="Georgia" panose="02040502050405020303" pitchFamily="18" charset="0"/>
              </a:rPr>
              <a:t>Univariate constraint: </a:t>
            </a:r>
            <a:r>
              <a:rPr lang="en-US" sz="1400" dirty="0"/>
              <a:t>Ignores weather impact, use SARIMAX or ML models (e.g., </a:t>
            </a:r>
            <a:r>
              <a:rPr lang="en-US" sz="1400" dirty="0" err="1"/>
              <a:t>XGBoost</a:t>
            </a:r>
            <a:r>
              <a:rPr lang="en-US" sz="1400" dirty="0"/>
              <a:t>) with temperature &amp; precipitation</a:t>
            </a:r>
          </a:p>
          <a:p>
            <a:endParaRPr lang="en-US" sz="1300" dirty="0"/>
          </a:p>
          <a:p>
            <a:r>
              <a:rPr lang="en-US" sz="1300" b="1" dirty="0">
                <a:solidFill>
                  <a:srgbClr val="104862"/>
                </a:solidFill>
                <a:latin typeface="Georgia" panose="02040502050405020303" pitchFamily="18" charset="0"/>
              </a:rPr>
              <a:t>Limited data (2 years): </a:t>
            </a:r>
            <a:r>
              <a:rPr lang="en-US" sz="1400" dirty="0"/>
              <a:t>Cannot capture annual seasonality; more historical data would improve accuracy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C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&amp;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2286000" cy="0"/>
          </a:xfrm>
          <a:prstGeom prst="line">
            <a:avLst/>
          </a:prstGeom>
          <a:noFill/>
          <a:ln w="19050">
            <a:solidFill>
              <a:srgbClr val="4A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3446" y="634803"/>
            <a:ext cx="4846505" cy="4059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4862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1. Deploy Damped HW as primary forecasting engine</a:t>
            </a:r>
          </a:p>
          <a:p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Best point accuracy (MAE=818), most efficient PIs (MSIS=42.6), computationally lightweight for real-time deployment</a:t>
            </a:r>
          </a:p>
          <a:p>
            <a:endParaRPr lang="en-US" sz="1400" dirty="0">
              <a:solidFill>
                <a:srgbClr val="5A6E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b="1" dirty="0">
                <a:solidFill>
                  <a:srgbClr val="104862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2. Implement holiday calendar overlay</a:t>
            </a:r>
          </a:p>
          <a:p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Apply scaling: −50% Christmas, −30% NYE/Eve, −15% federal holidays. Recalibrate annually</a:t>
            </a:r>
          </a:p>
          <a:p>
            <a:endParaRPr lang="en-US" sz="1400" dirty="0">
              <a:solidFill>
                <a:srgbClr val="5A6E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b="1" dirty="0">
                <a:solidFill>
                  <a:srgbClr val="104862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300" b="1">
                <a:solidFill>
                  <a:srgbClr val="104862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Integrate 1 to 3-day </a:t>
            </a:r>
            <a:r>
              <a:rPr lang="en-US" sz="1300" b="1" dirty="0">
                <a:solidFill>
                  <a:srgbClr val="104862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weather forecasts</a:t>
            </a:r>
          </a:p>
          <a:p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Dynamic adjustments: −35% for rain/snow, +10–15% for unexpectedly warm/clear days</a:t>
            </a:r>
          </a:p>
          <a:p>
            <a:endParaRPr lang="en-US" sz="1400" dirty="0">
              <a:solidFill>
                <a:srgbClr val="5A6E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b="1" dirty="0">
                <a:solidFill>
                  <a:srgbClr val="104862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4. Asymmetric fleet deployment strategy</a:t>
            </a:r>
          </a:p>
          <a:p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Upper 80th percentile for peak periods; point forecast for off-peak Reduces stock-out risk without over-deploying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1275891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94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supported by results table (slide 10)</a:t>
            </a:r>
            <a:endParaRPr lang="en-US" sz="1000" dirty="0">
              <a:solidFill>
                <a:srgbClr val="394C4E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3504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94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supported by holiday analysis (slide 13)</a:t>
            </a:r>
            <a:endParaRPr lang="en-US" sz="1000" dirty="0">
              <a:solidFill>
                <a:srgbClr val="394C4E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35040" y="2917553"/>
            <a:ext cx="2952843" cy="32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94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supported by weather correlation r=0.63 (slide 6)</a:t>
            </a:r>
            <a:endParaRPr lang="en-US" sz="1000" dirty="0">
              <a:solidFill>
                <a:srgbClr val="394C4E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35040" y="3688853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94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supported by PI analysis (</a:t>
            </a:r>
            <a:r>
              <a:rPr lang="en-US" sz="1000" i="1">
                <a:solidFill>
                  <a:srgbClr val="394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11)</a:t>
            </a:r>
            <a:endParaRPr lang="en-US" sz="1000" dirty="0">
              <a:solidFill>
                <a:srgbClr val="394C4E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1902" y="4415883"/>
            <a:ext cx="8046720" cy="0"/>
          </a:xfrm>
          <a:prstGeom prst="line">
            <a:avLst/>
          </a:prstGeom>
          <a:noFill/>
          <a:ln w="6350">
            <a:solidFill>
              <a:srgbClr val="D0D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1902" y="457199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</a:t>
            </a:r>
            <a:r>
              <a:rPr lang="en-US" sz="1400" dirty="0">
                <a:solidFill>
                  <a:srgbClr val="5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forecasting with TBATS/Prophet (dual seasonality) • ML model with weather covariates (XGBoost) • Automated weekly retraining pipeline • Cost-benefit quantification of forecast improvement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4A6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7006" y="652402"/>
            <a:ext cx="2914407" cy="677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0" y="2560320"/>
            <a:ext cx="4572000" cy="25831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H="1">
            <a:off x="0" y="2560320"/>
            <a:ext cx="518808" cy="25831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3D7BF-F06F-0182-BE66-9C0DCDAC23A5}"/>
              </a:ext>
            </a:extLst>
          </p:cNvPr>
          <p:cNvSpPr txBox="1"/>
          <p:nvPr/>
        </p:nvSpPr>
        <p:spPr>
          <a:xfrm>
            <a:off x="2629094" y="3667244"/>
            <a:ext cx="3080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5F6F71"/>
                </a:solidFill>
                <a:latin typeface="Georgia" panose="02040502050405020303" pitchFamily="18" charset="0"/>
              </a:rPr>
              <a:t>Questions?</a:t>
            </a:r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3001</TotalTime>
  <Words>3117</Words>
  <Application>Microsoft Office PowerPoint</Application>
  <PresentationFormat>On-screen Show (16:9)</PresentationFormat>
  <Paragraphs>401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Abadi</vt:lpstr>
      <vt:lpstr>Aharoni</vt:lpstr>
      <vt:lpstr>Aptos</vt:lpstr>
      <vt:lpstr>Aptos Display</vt:lpstr>
      <vt:lpstr>Arial</vt:lpstr>
      <vt:lpstr>Calibri</vt:lpstr>
      <vt:lpstr>Century Gothic</vt:lpstr>
      <vt:lpstr>Garamond</vt:lpstr>
      <vt:lpstr>Georgia</vt:lpstr>
      <vt:lpstr>Wingdings</vt:lpstr>
      <vt:lpstr>Office Theme</vt:lpstr>
      <vt:lpstr>Savon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CycleSense Analytics — Phase II</dc:title>
  <dc:subject>PptxGenJS Presentation</dc:subject>
  <dc:creator>Thejaswini Mundargi</dc:creator>
  <cp:lastModifiedBy>Thejaswini Mundargi</cp:lastModifiedBy>
  <cp:revision>30</cp:revision>
  <dcterms:created xsi:type="dcterms:W3CDTF">2026-04-19T20:53:47Z</dcterms:created>
  <dcterms:modified xsi:type="dcterms:W3CDTF">2026-04-28T15:29:27Z</dcterms:modified>
</cp:coreProperties>
</file>